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65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32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32323"/>
                </a:solidFill>
                <a:latin typeface="Arial"/>
              </a:rPr>
              <a:t>D1 解释泰坦尼克号预测错误</a:t>
            </a:r>
          </a:p>
          <a:p>
            <a:r>
              <a:rPr sz="1200">
                <a:solidFill>
                  <a:srgbClr val="5A5A5A"/>
                </a:solidFill>
                <a:latin typeface="Microsoft YaHei"/>
              </a:rPr>
              <a:t>3 分钟答辩 · 贴合 train.py、metrics.json、errors.csv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6492240" cy="4526280"/>
          </a:xfrm>
          <a:prstGeom prst="roundRect">
            <a:avLst/>
          </a:prstGeom>
          <a:solidFill>
            <a:srgbClr val="F5F6F8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6492240" cy="109728"/>
          </a:xfrm>
          <a:prstGeom prst="rect">
            <a:avLst/>
          </a:prstGeom>
          <a:solidFill>
            <a:srgbClr val="28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97864"/>
            <a:ext cx="6172200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 err="1">
                <a:solidFill>
                  <a:srgbClr val="232323"/>
                </a:solidFill>
                <a:latin typeface="Arial"/>
              </a:rPr>
              <a:t>题目与数据</a:t>
            </a:r>
            <a:endParaRPr sz="1800" b="1" dirty="0">
              <a:solidFill>
                <a:srgbClr val="232323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r>
              <a:rPr sz="1400" dirty="0" err="1">
                <a:solidFill>
                  <a:srgbClr val="232323"/>
                </a:solidFill>
                <a:latin typeface="Microsoft YaHei"/>
              </a:rPr>
              <a:t>使用者：准备历史展览、想解释模型局限的博物馆教育团队</a:t>
            </a:r>
            <a:endParaRPr sz="1400"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400" dirty="0" err="1">
                <a:solidFill>
                  <a:srgbClr val="232323"/>
                </a:solidFill>
                <a:latin typeface="Microsoft YaHei"/>
              </a:rPr>
              <a:t>真实输入：Kaggle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 Titanic train.csv，891 行、12 列</a:t>
            </a:r>
          </a:p>
          <a:p>
            <a:pPr>
              <a:spcAft>
                <a:spcPts val="500"/>
              </a:spcAft>
            </a:pPr>
            <a:r>
              <a:rPr sz="1400" dirty="0" err="1">
                <a:solidFill>
                  <a:srgbClr val="232323"/>
                </a:solidFill>
                <a:latin typeface="Microsoft YaHei"/>
              </a:rPr>
              <a:t>核心目标：比较多数类基线与随机森林候选模型</a:t>
            </a:r>
            <a:endParaRPr sz="1400"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400" dirty="0" err="1">
                <a:solidFill>
                  <a:srgbClr val="232323"/>
                </a:solidFill>
                <a:latin typeface="Microsoft YaHei"/>
              </a:rPr>
              <a:t>边界：这是历史观察数据分析，不是现代救援决策，也不能证明因果</a:t>
            </a:r>
            <a:endParaRPr sz="1400"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400" dirty="0" err="1">
                <a:solidFill>
                  <a:srgbClr val="232323"/>
                </a:solidFill>
                <a:latin typeface="Microsoft YaHei"/>
              </a:rPr>
              <a:t>这次结果里，候选模型比基线更好，但仍然会错</a:t>
            </a:r>
            <a:endParaRPr sz="1400" dirty="0">
              <a:solidFill>
                <a:srgbClr val="232323"/>
              </a:solidFill>
              <a:latin typeface="Microsoft YaHe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91400" y="1091530"/>
            <a:ext cx="4297680" cy="2057400"/>
          </a:xfrm>
          <a:prstGeom prst="roundRect">
            <a:avLst/>
          </a:prstGeom>
          <a:solidFill>
            <a:srgbClr val="F5F6F8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91400" y="1091530"/>
            <a:ext cx="4297680" cy="109728"/>
          </a:xfrm>
          <a:prstGeom prst="rect">
            <a:avLst/>
          </a:prstGeom>
          <a:solidFill>
            <a:srgbClr val="AA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74280" y="1237834"/>
            <a:ext cx="3977640" cy="1874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 err="1">
                <a:solidFill>
                  <a:srgbClr val="232323"/>
                </a:solidFill>
                <a:latin typeface="Arial"/>
              </a:rPr>
              <a:t>本次文件</a:t>
            </a:r>
            <a:endParaRPr sz="1800" b="1" dirty="0">
              <a:solidFill>
                <a:srgbClr val="232323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r>
              <a:rPr sz="1400" dirty="0" err="1">
                <a:solidFill>
                  <a:srgbClr val="232323"/>
                </a:solidFill>
                <a:latin typeface="Microsoft YaHei"/>
              </a:rPr>
              <a:t>train.py：主程序与模型</a:t>
            </a:r>
            <a:endParaRPr sz="1400"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400" dirty="0" err="1">
                <a:solidFill>
                  <a:srgbClr val="232323"/>
                </a:solidFill>
                <a:latin typeface="Microsoft YaHei"/>
              </a:rPr>
              <a:t>metrics.json：完整指标</a:t>
            </a:r>
            <a:endParaRPr sz="1400"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400" dirty="0" err="1">
                <a:solidFill>
                  <a:srgbClr val="232323"/>
                </a:solidFill>
                <a:latin typeface="Microsoft YaHei"/>
              </a:rPr>
              <a:t>errors.csv：真实错分样本</a:t>
            </a:r>
            <a:endParaRPr sz="1400"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400" dirty="0" err="1">
                <a:solidFill>
                  <a:srgbClr val="232323"/>
                </a:solidFill>
                <a:latin typeface="Microsoft YaHei"/>
              </a:rPr>
              <a:t>report.md：书面报告</a:t>
            </a:r>
            <a:endParaRPr sz="1400" dirty="0">
              <a:solidFill>
                <a:srgbClr val="232323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Microsoft YaHei"/>
              </a:rPr>
              <a:t>D1 · Titanic 分类实验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581768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232323"/>
                </a:solidFill>
                <a:latin typeface="Arial"/>
              </a:rPr>
              <a:t>1. </a:t>
            </a:r>
            <a:r>
              <a:rPr sz="2800" b="1" dirty="0" err="1">
                <a:solidFill>
                  <a:srgbClr val="232323"/>
                </a:solidFill>
                <a:latin typeface="Arial"/>
              </a:rPr>
              <a:t>从真实乘客输入追踪到预测输出</a:t>
            </a:r>
            <a:endParaRPr sz="2800" b="1" dirty="0">
              <a:solidFill>
                <a:srgbClr val="232323"/>
              </a:solidFill>
              <a:latin typeface="Arial"/>
            </a:endParaRPr>
          </a:p>
          <a:p>
            <a:r>
              <a:rPr sz="1200" dirty="0" err="1">
                <a:solidFill>
                  <a:srgbClr val="5A5A5A"/>
                </a:solidFill>
                <a:latin typeface="Microsoft YaHei"/>
              </a:rPr>
              <a:t>示例样本来自</a:t>
            </a:r>
            <a:r>
              <a:rPr sz="1200" dirty="0">
                <a:solidFill>
                  <a:srgbClr val="5A5A5A"/>
                </a:solidFill>
                <a:latin typeface="Microsoft YaHei"/>
              </a:rPr>
              <a:t> </a:t>
            </a:r>
            <a:r>
              <a:rPr sz="1200" dirty="0" err="1">
                <a:solidFill>
                  <a:srgbClr val="5A5A5A"/>
                </a:solidFill>
                <a:latin typeface="Microsoft YaHei"/>
              </a:rPr>
              <a:t>errors.csv：</a:t>
            </a:r>
            <a:r>
              <a:rPr lang="en-US" sz="1200" dirty="0" err="1">
                <a:solidFill>
                  <a:srgbClr val="5A5A5A"/>
                </a:solidFill>
                <a:latin typeface="Microsoft YaHei"/>
              </a:rPr>
              <a:t>PassengerId</a:t>
            </a:r>
            <a:r>
              <a:rPr lang="en-US" sz="1200" dirty="0">
                <a:solidFill>
                  <a:srgbClr val="5A5A5A"/>
                </a:solidFill>
                <a:latin typeface="Microsoft YaHei"/>
              </a:rPr>
              <a:t>=12，</a:t>
            </a:r>
            <a:r>
              <a:rPr lang="zh-CN" altLang="en-US" sz="1200" dirty="0">
                <a:solidFill>
                  <a:srgbClr val="5A5A5A"/>
                </a:solidFill>
                <a:latin typeface="Microsoft YaHei"/>
              </a:rPr>
              <a:t>乘客姓名：</a:t>
            </a:r>
            <a:r>
              <a:rPr lang="en-US" sz="1200" dirty="0">
                <a:solidFill>
                  <a:srgbClr val="5A5A5A"/>
                </a:solidFill>
                <a:latin typeface="Microsoft YaHei"/>
              </a:rPr>
              <a:t>Bonnell, Miss. Elizabeth</a:t>
            </a:r>
            <a:endParaRPr sz="1200" dirty="0">
              <a:solidFill>
                <a:srgbClr val="5A5A5A"/>
              </a:solidFill>
              <a:latin typeface="Microsoft YaHe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5623560" cy="4754880"/>
          </a:xfrm>
          <a:prstGeom prst="roundRect">
            <a:avLst/>
          </a:prstGeom>
          <a:solidFill>
            <a:srgbClr val="F5F6F8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5623560" cy="109728"/>
          </a:xfrm>
          <a:prstGeom prst="rect">
            <a:avLst/>
          </a:prstGeom>
          <a:solidFill>
            <a:srgbClr val="28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133856"/>
            <a:ext cx="5290794" cy="432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232323"/>
                </a:solidFill>
                <a:latin typeface="Arial"/>
              </a:rPr>
              <a:t>流程</a:t>
            </a:r>
            <a:endParaRPr b="1" dirty="0">
              <a:solidFill>
                <a:srgbClr val="232323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r>
              <a:rPr lang="zh-CN" altLang="en-US" sz="1400" dirty="0">
                <a:solidFill>
                  <a:srgbClr val="232323"/>
                </a:solidFill>
                <a:latin typeface="Microsoft YaHei"/>
              </a:rPr>
              <a:t>**原始记录片段（</a:t>
            </a:r>
            <a:r>
              <a:rPr lang="en-US" sz="1400" dirty="0">
                <a:solidFill>
                  <a:srgbClr val="232323"/>
                </a:solidFill>
                <a:latin typeface="Microsoft YaHei"/>
              </a:rPr>
              <a:t>train.csv）**</a:t>
            </a:r>
          </a:p>
          <a:p>
            <a:pPr>
              <a:spcAft>
                <a:spcPts val="500"/>
              </a:spcAft>
            </a:pPr>
            <a:r>
              <a:rPr lang="en-US" sz="1400" dirty="0">
                <a:solidFill>
                  <a:srgbClr val="232323"/>
                </a:solidFill>
                <a:latin typeface="Microsoft YaHei"/>
              </a:rPr>
              <a:t>|</a:t>
            </a:r>
            <a:r>
              <a:rPr lang="en-US" sz="1400" dirty="0" err="1">
                <a:solidFill>
                  <a:srgbClr val="232323"/>
                </a:solidFill>
                <a:latin typeface="Microsoft YaHei"/>
              </a:rPr>
              <a:t>PassengerId|Survived|Pclass|Sex|Age|SibSp|Parch|Fare|Embarked</a:t>
            </a:r>
            <a:r>
              <a:rPr lang="en-US" sz="1400" dirty="0">
                <a:solidFill>
                  <a:srgbClr val="232323"/>
                </a:solidFill>
                <a:latin typeface="Microsoft YaHei"/>
              </a:rPr>
              <a:t>|</a:t>
            </a:r>
          </a:p>
          <a:p>
            <a:pPr>
              <a:spcAft>
                <a:spcPts val="500"/>
              </a:spcAft>
            </a:pPr>
            <a:r>
              <a:rPr lang="en-US" sz="1400" dirty="0">
                <a:solidFill>
                  <a:srgbClr val="232323"/>
                </a:solidFill>
                <a:latin typeface="Microsoft YaHei"/>
              </a:rPr>
              <a:t>|---|---|---|---|---|---|---|---|---|</a:t>
            </a:r>
          </a:p>
          <a:p>
            <a:pPr>
              <a:spcAft>
                <a:spcPts val="500"/>
              </a:spcAft>
            </a:pPr>
            <a:r>
              <a:rPr lang="en-US" sz="1400" dirty="0">
                <a:solidFill>
                  <a:srgbClr val="232323"/>
                </a:solidFill>
                <a:latin typeface="Microsoft YaHei"/>
              </a:rPr>
              <a:t>|12|1|1|female|58|0|0|26.55|S|</a:t>
            </a:r>
          </a:p>
          <a:p>
            <a:pPr>
              <a:spcAft>
                <a:spcPts val="500"/>
              </a:spcAft>
            </a:pPr>
            <a:r>
              <a:rPr sz="1400" dirty="0">
                <a:solidFill>
                  <a:srgbClr val="232323"/>
                </a:solidFill>
                <a:latin typeface="Microsoft YaHei"/>
              </a:rPr>
              <a:t>1) 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load_frame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() 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读取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 data/raw/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train.csv；verify_real_data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() 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检查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 891 行、12 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列和标签计数</a:t>
            </a:r>
            <a:endParaRPr sz="1400"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400" dirty="0">
                <a:solidFill>
                  <a:srgbClr val="232323"/>
                </a:solidFill>
                <a:latin typeface="Microsoft YaHei"/>
              </a:rPr>
              <a:t>2) 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make_xy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() 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取出特征列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 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Pclass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, Sex, Age, 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SibSp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, Parch, Fare, Embarked 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和标签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 Survived</a:t>
            </a:r>
          </a:p>
          <a:p>
            <a:pPr>
              <a:spcAft>
                <a:spcPts val="500"/>
              </a:spcAft>
            </a:pPr>
            <a:r>
              <a:rPr sz="1400" dirty="0">
                <a:solidFill>
                  <a:srgbClr val="232323"/>
                </a:solidFill>
                <a:latin typeface="Microsoft YaHei"/>
              </a:rPr>
              <a:t>3) 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make_split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() 用 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random_state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=42 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分层划分，样本进入训练集或测试集</a:t>
            </a:r>
            <a:endParaRPr sz="1400"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400" dirty="0">
                <a:solidFill>
                  <a:srgbClr val="232323"/>
                </a:solidFill>
                <a:latin typeface="Microsoft YaHei"/>
              </a:rPr>
              <a:t>4) preprocessor()：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数值列用中位数补缺失；类别列用众数补缺失并做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 one-hot</a:t>
            </a:r>
          </a:p>
          <a:p>
            <a:pPr>
              <a:spcAft>
                <a:spcPts val="500"/>
              </a:spcAft>
            </a:pPr>
            <a:r>
              <a:rPr sz="1400" dirty="0">
                <a:solidFill>
                  <a:srgbClr val="232323"/>
                </a:solidFill>
                <a:latin typeface="Microsoft YaHei"/>
              </a:rPr>
              <a:t>5) 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build_baseline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() 的 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DummyClassifier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 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永远猜多数类；build_candidate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() 的 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RandomForestClassifier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 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用训练集学习后再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 predict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987552"/>
            <a:ext cx="5303520" cy="2011680"/>
          </a:xfrm>
          <a:prstGeom prst="roundRect">
            <a:avLst/>
          </a:prstGeom>
          <a:solidFill>
            <a:srgbClr val="F5F6F8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55080" y="987552"/>
            <a:ext cx="5303520" cy="109728"/>
          </a:xfrm>
          <a:prstGeom prst="rect">
            <a:avLst/>
          </a:prstGeom>
          <a:solidFill>
            <a:srgbClr val="AA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133856"/>
            <a:ext cx="4937760" cy="1079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 err="1">
                <a:solidFill>
                  <a:srgbClr val="232323"/>
                </a:solidFill>
                <a:latin typeface="Arial"/>
              </a:rPr>
              <a:t>这个样本最后怎么变成结果</a:t>
            </a:r>
            <a:endParaRPr sz="2400" b="1" dirty="0">
              <a:solidFill>
                <a:srgbClr val="232323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r>
              <a:rPr dirty="0" err="1">
                <a:solidFill>
                  <a:srgbClr val="232323"/>
                </a:solidFill>
                <a:latin typeface="Microsoft YaHei"/>
              </a:rPr>
              <a:t>真实值</a:t>
            </a:r>
            <a:r>
              <a:rPr dirty="0">
                <a:solidFill>
                  <a:srgbClr val="232323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232323"/>
                </a:solidFill>
                <a:latin typeface="Microsoft YaHei"/>
              </a:rPr>
              <a:t>true_survived</a:t>
            </a:r>
            <a:r>
              <a:rPr dirty="0">
                <a:solidFill>
                  <a:srgbClr val="232323"/>
                </a:solidFill>
                <a:latin typeface="Microsoft YaHei"/>
              </a:rPr>
              <a:t> = </a:t>
            </a:r>
            <a:r>
              <a:rPr lang="en-US" dirty="0">
                <a:solidFill>
                  <a:srgbClr val="232323"/>
                </a:solidFill>
                <a:latin typeface="Microsoft YaHei"/>
              </a:rPr>
              <a:t>1</a:t>
            </a:r>
            <a:endParaRPr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dirty="0" err="1">
                <a:solidFill>
                  <a:srgbClr val="232323"/>
                </a:solidFill>
                <a:latin typeface="Microsoft YaHei"/>
              </a:rPr>
              <a:t>候选模型预测</a:t>
            </a:r>
            <a:r>
              <a:rPr dirty="0">
                <a:solidFill>
                  <a:srgbClr val="232323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232323"/>
                </a:solidFill>
                <a:latin typeface="Microsoft YaHei"/>
              </a:rPr>
              <a:t>predicted_survived</a:t>
            </a:r>
            <a:r>
              <a:rPr dirty="0">
                <a:solidFill>
                  <a:srgbClr val="232323"/>
                </a:solidFill>
                <a:latin typeface="Microsoft YaHei"/>
              </a:rPr>
              <a:t> =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246120"/>
            <a:ext cx="5303520" cy="2103120"/>
          </a:xfrm>
          <a:prstGeom prst="roundRect">
            <a:avLst/>
          </a:prstGeom>
          <a:solidFill>
            <a:srgbClr val="F5F6F8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55080" y="3246120"/>
            <a:ext cx="5303520" cy="109728"/>
          </a:xfrm>
          <a:prstGeom prst="rect">
            <a:avLst/>
          </a:prstGeom>
          <a:solidFill>
            <a:srgbClr val="2D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5560" y="3400625"/>
            <a:ext cx="5303520" cy="169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 err="1">
                <a:solidFill>
                  <a:srgbClr val="232323"/>
                </a:solidFill>
                <a:latin typeface="Arial"/>
              </a:rPr>
              <a:t>输出落点</a:t>
            </a:r>
            <a:endParaRPr sz="2400" b="1" dirty="0">
              <a:solidFill>
                <a:srgbClr val="232323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r>
              <a:rPr dirty="0">
                <a:solidFill>
                  <a:srgbClr val="232323"/>
                </a:solidFill>
                <a:latin typeface="Microsoft YaHei"/>
              </a:rPr>
              <a:t>evaluate() </a:t>
            </a:r>
            <a:r>
              <a:rPr dirty="0" err="1">
                <a:solidFill>
                  <a:srgbClr val="232323"/>
                </a:solidFill>
                <a:latin typeface="Microsoft YaHei"/>
              </a:rPr>
              <a:t>计算</a:t>
            </a:r>
            <a:r>
              <a:rPr dirty="0">
                <a:solidFill>
                  <a:srgbClr val="232323"/>
                </a:solidFill>
                <a:latin typeface="Microsoft YaHei"/>
              </a:rPr>
              <a:t> accuracy、precision、recall、F1 </a:t>
            </a:r>
            <a:r>
              <a:rPr dirty="0" err="1">
                <a:solidFill>
                  <a:srgbClr val="232323"/>
                </a:solidFill>
                <a:latin typeface="Microsoft YaHei"/>
              </a:rPr>
              <a:t>和混淆矩阵</a:t>
            </a:r>
            <a:endParaRPr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dirty="0" err="1">
                <a:solidFill>
                  <a:srgbClr val="232323"/>
                </a:solidFill>
                <a:latin typeface="Microsoft YaHei"/>
              </a:rPr>
              <a:t>metrics.json</a:t>
            </a:r>
            <a:r>
              <a:rPr dirty="0">
                <a:solidFill>
                  <a:srgbClr val="232323"/>
                </a:solidFill>
                <a:latin typeface="Microsoft YaHei"/>
              </a:rPr>
              <a:t> </a:t>
            </a:r>
            <a:r>
              <a:rPr dirty="0" err="1">
                <a:solidFill>
                  <a:srgbClr val="232323"/>
                </a:solidFill>
                <a:latin typeface="Microsoft YaHei"/>
              </a:rPr>
              <a:t>保存全部指标</a:t>
            </a:r>
            <a:endParaRPr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dirty="0">
                <a:solidFill>
                  <a:srgbClr val="232323"/>
                </a:solidFill>
                <a:latin typeface="Microsoft YaHei"/>
              </a:rPr>
              <a:t>errors.csv </a:t>
            </a:r>
            <a:r>
              <a:rPr dirty="0" err="1">
                <a:solidFill>
                  <a:srgbClr val="232323"/>
                </a:solidFill>
                <a:latin typeface="Microsoft YaHei"/>
              </a:rPr>
              <a:t>保存测试集错分乘客记录</a:t>
            </a:r>
            <a:endParaRPr dirty="0">
              <a:solidFill>
                <a:srgbClr val="232323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Microsoft YaHei"/>
              </a:rPr>
              <a:t>D1 · Titanic 分类实验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32323"/>
                </a:solidFill>
                <a:latin typeface="Arial"/>
              </a:rPr>
              <a:t>2. 为什么这个基线足够简单</a:t>
            </a:r>
          </a:p>
          <a:p>
            <a:r>
              <a:rPr sz="1200">
                <a:solidFill>
                  <a:srgbClr val="5A5A5A"/>
                </a:solidFill>
                <a:latin typeface="Microsoft YaHei"/>
              </a:rPr>
              <a:t>DummyClassifier(strategy="most_frequent")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5486400" cy="4480560"/>
          </a:xfrm>
          <a:prstGeom prst="roundRect">
            <a:avLst/>
          </a:prstGeom>
          <a:solidFill>
            <a:srgbClr val="F5F6F8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0" cy="109728"/>
          </a:xfrm>
          <a:prstGeom prst="rect">
            <a:avLst/>
          </a:prstGeom>
          <a:solidFill>
            <a:srgbClr val="AA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19" y="1197864"/>
            <a:ext cx="5047111" cy="354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 err="1">
                <a:solidFill>
                  <a:srgbClr val="232323"/>
                </a:solidFill>
                <a:latin typeface="Arial"/>
              </a:rPr>
              <a:t>基线的性质</a:t>
            </a:r>
            <a:endParaRPr sz="2800" b="1" dirty="0">
              <a:solidFill>
                <a:srgbClr val="232323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r>
              <a:rPr sz="2000" dirty="0" err="1">
                <a:solidFill>
                  <a:srgbClr val="232323"/>
                </a:solidFill>
                <a:latin typeface="Microsoft YaHei"/>
              </a:rPr>
              <a:t>它不看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Pclass、Sex、Age、SibSp、Parch、Fare、Embarked</a:t>
            </a:r>
            <a:endParaRPr sz="2000"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2000" dirty="0" err="1">
                <a:solidFill>
                  <a:srgbClr val="232323"/>
                </a:solidFill>
                <a:latin typeface="Microsoft YaHei"/>
              </a:rPr>
              <a:t>它只统计训练集里哪个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 Survived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类别最多</a:t>
            </a:r>
            <a:endParaRPr sz="2000"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2000" dirty="0" err="1">
                <a:solidFill>
                  <a:srgbClr val="232323"/>
                </a:solidFill>
                <a:latin typeface="Microsoft YaHei"/>
              </a:rPr>
              <a:t>因为训练集中死亡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 0 是 549，存活 1 是 342，所以它会始终猜 0</a:t>
            </a:r>
          </a:p>
          <a:p>
            <a:pPr>
              <a:spcAft>
                <a:spcPts val="500"/>
              </a:spcAft>
            </a:pPr>
            <a:r>
              <a:rPr sz="2000" dirty="0" err="1">
                <a:solidFill>
                  <a:srgbClr val="232323"/>
                </a:solidFill>
                <a:latin typeface="Microsoft YaHei"/>
              </a:rPr>
              <a:t>这就是最低比较标尺：如果候选模型连它都打不过，就没有价值</a:t>
            </a:r>
            <a:endParaRPr sz="2000"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2000" dirty="0" err="1">
                <a:solidFill>
                  <a:srgbClr val="232323"/>
                </a:solidFill>
                <a:latin typeface="Microsoft YaHei"/>
              </a:rPr>
              <a:t>它还能暴露不平衡数据的陷阱：accuracy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不低，但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recall_survived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 =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51560"/>
            <a:ext cx="5212080" cy="1828800"/>
          </a:xfrm>
          <a:prstGeom prst="roundRect">
            <a:avLst/>
          </a:prstGeom>
          <a:solidFill>
            <a:srgbClr val="F5F6F8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1051560"/>
            <a:ext cx="5212080" cy="109728"/>
          </a:xfrm>
          <a:prstGeom prst="rect">
            <a:avLst/>
          </a:prstGeom>
          <a:solidFill>
            <a:srgbClr val="28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197864"/>
            <a:ext cx="48920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2323"/>
                </a:solidFill>
                <a:latin typeface="Arial"/>
              </a:rPr>
              <a:t>基线在本次运行里的结果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32323"/>
                </a:solidFill>
                <a:latin typeface="Microsoft YaHei"/>
              </a:rPr>
              <a:t>accuracy = 0.6143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32323"/>
                </a:solidFill>
                <a:latin typeface="Microsoft YaHei"/>
              </a:rPr>
              <a:t>precision_survived = 0.0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32323"/>
                </a:solidFill>
                <a:latin typeface="Microsoft YaHei"/>
              </a:rPr>
              <a:t>recall_survived = 0.0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32323"/>
                </a:solidFill>
                <a:latin typeface="Microsoft YaHei"/>
              </a:rPr>
              <a:t>f1_survived = 0.0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246120"/>
            <a:ext cx="5212080" cy="2148840"/>
          </a:xfrm>
          <a:prstGeom prst="roundRect">
            <a:avLst/>
          </a:prstGeom>
          <a:solidFill>
            <a:srgbClr val="F5F6F8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3246120"/>
            <a:ext cx="5212080" cy="109728"/>
          </a:xfrm>
          <a:prstGeom prst="rect">
            <a:avLst/>
          </a:prstGeom>
          <a:solidFill>
            <a:srgbClr val="2D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3392424"/>
            <a:ext cx="489204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2323"/>
                </a:solidFill>
                <a:latin typeface="Arial"/>
              </a:rPr>
              <a:t>一句话解释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32323"/>
                </a:solidFill>
                <a:latin typeface="Microsoft YaHei"/>
              </a:rPr>
              <a:t>它简单，因为完全不学习任何特征规律，只做多数类预测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32323"/>
                </a:solidFill>
                <a:latin typeface="Microsoft YaHei"/>
              </a:rPr>
              <a:t>它必要，因为给候选模型提供一个可复查的下限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32323"/>
                </a:solidFill>
                <a:latin typeface="Microsoft YaHei"/>
              </a:rPr>
              <a:t>它让我们知道：不能只看 accuracy，要看更贴近使用者的错误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Microsoft YaHei"/>
              </a:rPr>
              <a:t>D1 · Titanic 分类实验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32323"/>
                </a:solidFill>
                <a:latin typeface="Arial"/>
              </a:rPr>
              <a:t>3. 一个指标怎样计算、为什么与使用者有关</a:t>
            </a:r>
          </a:p>
          <a:p>
            <a:r>
              <a:rPr sz="1200">
                <a:solidFill>
                  <a:srgbClr val="5A5A5A"/>
                </a:solidFill>
                <a:latin typeface="Microsoft YaHei"/>
              </a:rPr>
              <a:t>示例指标：recall_survived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486400" cy="4480560"/>
          </a:xfrm>
          <a:prstGeom prst="roundRect">
            <a:avLst/>
          </a:prstGeom>
          <a:solidFill>
            <a:srgbClr val="F5F6F8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00" cy="109728"/>
          </a:xfrm>
          <a:prstGeom prst="rect">
            <a:avLst/>
          </a:prstGeom>
          <a:solidFill>
            <a:srgbClr val="28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19" y="1152144"/>
            <a:ext cx="5212079" cy="3426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 err="1">
                <a:solidFill>
                  <a:srgbClr val="232323"/>
                </a:solidFill>
                <a:latin typeface="Arial"/>
              </a:rPr>
              <a:t>计算方式</a:t>
            </a:r>
            <a:endParaRPr sz="3200" b="1" dirty="0">
              <a:solidFill>
                <a:srgbClr val="232323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r>
              <a:rPr sz="2400" dirty="0" err="1">
                <a:solidFill>
                  <a:srgbClr val="232323"/>
                </a:solidFill>
                <a:latin typeface="Microsoft YaHei"/>
              </a:rPr>
              <a:t>recall_survived</a:t>
            </a:r>
            <a:r>
              <a:rPr sz="2400" dirty="0">
                <a:solidFill>
                  <a:srgbClr val="232323"/>
                </a:solidFill>
                <a:latin typeface="Microsoft YaHei"/>
              </a:rPr>
              <a:t> = TP / (TP + FN)</a:t>
            </a:r>
          </a:p>
          <a:p>
            <a:pPr>
              <a:spcAft>
                <a:spcPts val="500"/>
              </a:spcAft>
            </a:pPr>
            <a:r>
              <a:rPr sz="2400" dirty="0" err="1">
                <a:solidFill>
                  <a:srgbClr val="232323"/>
                </a:solidFill>
                <a:latin typeface="Microsoft YaHei"/>
              </a:rPr>
              <a:t>TP：真实存活，预测存活</a:t>
            </a:r>
            <a:endParaRPr sz="2400"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2400" dirty="0" err="1">
                <a:solidFill>
                  <a:srgbClr val="232323"/>
                </a:solidFill>
                <a:latin typeface="Microsoft YaHei"/>
              </a:rPr>
              <a:t>FN：真实存活，预测死亡</a:t>
            </a:r>
            <a:endParaRPr sz="2400"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2400" dirty="0" err="1">
                <a:solidFill>
                  <a:srgbClr val="232323"/>
                </a:solidFill>
                <a:latin typeface="Microsoft YaHei"/>
              </a:rPr>
              <a:t>在本次结果里，候选模型</a:t>
            </a:r>
            <a:r>
              <a:rPr sz="2400" dirty="0">
                <a:solidFill>
                  <a:srgbClr val="232323"/>
                </a:solidFill>
                <a:latin typeface="Microsoft YaHei"/>
              </a:rPr>
              <a:t> </a:t>
            </a:r>
            <a:r>
              <a:rPr sz="2400" dirty="0" err="1">
                <a:solidFill>
                  <a:srgbClr val="232323"/>
                </a:solidFill>
                <a:latin typeface="Microsoft YaHei"/>
              </a:rPr>
              <a:t>recall_survived</a:t>
            </a:r>
            <a:r>
              <a:rPr sz="2400" dirty="0">
                <a:solidFill>
                  <a:srgbClr val="232323"/>
                </a:solidFill>
                <a:latin typeface="Microsoft YaHei"/>
              </a:rPr>
              <a:t> = 0.6395</a:t>
            </a:r>
          </a:p>
          <a:p>
            <a:pPr>
              <a:spcAft>
                <a:spcPts val="500"/>
              </a:spcAft>
            </a:pPr>
            <a:r>
              <a:rPr sz="2400" dirty="0" err="1">
                <a:solidFill>
                  <a:srgbClr val="232323"/>
                </a:solidFill>
                <a:latin typeface="Microsoft YaHei"/>
              </a:rPr>
              <a:t>含义：真实幸存者里，大约</a:t>
            </a:r>
            <a:r>
              <a:rPr sz="2400" dirty="0">
                <a:solidFill>
                  <a:srgbClr val="232323"/>
                </a:solidFill>
                <a:latin typeface="Microsoft YaHei"/>
              </a:rPr>
              <a:t> 63.95% </a:t>
            </a:r>
            <a:r>
              <a:rPr sz="2400" dirty="0" err="1">
                <a:solidFill>
                  <a:srgbClr val="232323"/>
                </a:solidFill>
                <a:latin typeface="Microsoft YaHei"/>
              </a:rPr>
              <a:t>被模型识别出来</a:t>
            </a:r>
            <a:endParaRPr sz="2400" dirty="0">
              <a:solidFill>
                <a:srgbClr val="232323"/>
              </a:solidFill>
              <a:latin typeface="Microsoft Ya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0" y="1005840"/>
            <a:ext cx="5212080" cy="4480560"/>
          </a:xfrm>
          <a:prstGeom prst="roundRect">
            <a:avLst/>
          </a:prstGeom>
          <a:solidFill>
            <a:srgbClr val="F5F6F8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1005840"/>
            <a:ext cx="5212080" cy="109728"/>
          </a:xfrm>
          <a:prstGeom prst="rect">
            <a:avLst/>
          </a:prstGeom>
          <a:solidFill>
            <a:srgbClr val="AA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152144"/>
            <a:ext cx="4876801" cy="354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 err="1">
                <a:solidFill>
                  <a:srgbClr val="232323"/>
                </a:solidFill>
                <a:latin typeface="Arial"/>
              </a:rPr>
              <a:t>为什么这和使用者有关</a:t>
            </a:r>
            <a:endParaRPr sz="2800" b="1" dirty="0">
              <a:solidFill>
                <a:srgbClr val="232323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r>
              <a:rPr sz="2000" dirty="0" err="1">
                <a:solidFill>
                  <a:srgbClr val="232323"/>
                </a:solidFill>
                <a:latin typeface="Microsoft YaHei"/>
              </a:rPr>
              <a:t>博物馆教育团队更怕漏掉真实幸存者（FN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）</a:t>
            </a:r>
          </a:p>
          <a:p>
            <a:pPr>
              <a:spcAft>
                <a:spcPts val="500"/>
              </a:spcAft>
            </a:pPr>
            <a:r>
              <a:rPr sz="2000" dirty="0" err="1">
                <a:solidFill>
                  <a:srgbClr val="232323"/>
                </a:solidFill>
                <a:latin typeface="Microsoft YaHei"/>
              </a:rPr>
              <a:t>因为漏掉会扭曲历史统计和解释</a:t>
            </a:r>
            <a:endParaRPr sz="2000"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2000" dirty="0" err="1">
                <a:solidFill>
                  <a:srgbClr val="232323"/>
                </a:solidFill>
                <a:latin typeface="Microsoft YaHei"/>
              </a:rPr>
              <a:t>所以他们会更关注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recall_survived，而不只是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 accuracy</a:t>
            </a:r>
          </a:p>
          <a:p>
            <a:pPr>
              <a:spcAft>
                <a:spcPts val="500"/>
              </a:spcAft>
            </a:pPr>
            <a:r>
              <a:rPr sz="2000" dirty="0" err="1">
                <a:solidFill>
                  <a:srgbClr val="232323"/>
                </a:solidFill>
                <a:latin typeface="Microsoft YaHei"/>
              </a:rPr>
              <a:t>如果换成资源分配场景，precision_survived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可能更重要</a:t>
            </a:r>
            <a:endParaRPr sz="2000"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2000" dirty="0" err="1">
                <a:solidFill>
                  <a:srgbClr val="232323"/>
                </a:solidFill>
                <a:latin typeface="Microsoft YaHei"/>
              </a:rPr>
              <a:t>不同使用者，指标优先级不同，没有万能指标</a:t>
            </a:r>
            <a:endParaRPr sz="2000" dirty="0">
              <a:solidFill>
                <a:srgbClr val="232323"/>
              </a:solidFill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Microsoft YaHei"/>
              </a:rPr>
              <a:t>D1 · Titanic 分类实验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32323"/>
                </a:solidFill>
                <a:latin typeface="Arial"/>
              </a:rPr>
              <a:t>4. 一个失败案例和下一项检查是什么？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5577840" cy="2194560"/>
          </a:xfrm>
          <a:prstGeom prst="roundRect">
            <a:avLst/>
          </a:prstGeom>
          <a:solidFill>
            <a:srgbClr val="F5F6F8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577840" cy="109728"/>
          </a:xfrm>
          <a:prstGeom prst="rect">
            <a:avLst/>
          </a:prstGeom>
          <a:solidFill>
            <a:srgbClr val="AA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97864"/>
            <a:ext cx="5257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 err="1">
                <a:solidFill>
                  <a:srgbClr val="232323"/>
                </a:solidFill>
                <a:latin typeface="Arial"/>
              </a:rPr>
              <a:t>真实失败案例</a:t>
            </a:r>
            <a:endParaRPr sz="1800" b="1" dirty="0">
              <a:solidFill>
                <a:srgbClr val="232323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r>
              <a:rPr sz="1400" dirty="0" err="1">
                <a:solidFill>
                  <a:srgbClr val="232323"/>
                </a:solidFill>
                <a:latin typeface="Microsoft YaHei"/>
              </a:rPr>
              <a:t>source_row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 501 / 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PassengerId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 502 / Canavan, Miss. Mary</a:t>
            </a:r>
          </a:p>
          <a:p>
            <a:pPr>
              <a:spcAft>
                <a:spcPts val="500"/>
              </a:spcAft>
            </a:pPr>
            <a:r>
              <a:rPr sz="1400" dirty="0" err="1">
                <a:solidFill>
                  <a:srgbClr val="232323"/>
                </a:solidFill>
                <a:latin typeface="Microsoft YaHei"/>
              </a:rPr>
              <a:t>真实值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 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true_survived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 = 0</a:t>
            </a:r>
          </a:p>
          <a:p>
            <a:pPr>
              <a:spcAft>
                <a:spcPts val="500"/>
              </a:spcAft>
            </a:pPr>
            <a:r>
              <a:rPr sz="1400" dirty="0" err="1">
                <a:solidFill>
                  <a:srgbClr val="232323"/>
                </a:solidFill>
                <a:latin typeface="Microsoft YaHei"/>
              </a:rPr>
              <a:t>候选模型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 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predicted_survived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 = 1（假阳性）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051560"/>
            <a:ext cx="5257800" cy="2194560"/>
          </a:xfrm>
          <a:prstGeom prst="roundRect">
            <a:avLst/>
          </a:prstGeom>
          <a:solidFill>
            <a:srgbClr val="F5F6F8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55080" y="1051560"/>
            <a:ext cx="5257800" cy="109728"/>
          </a:xfrm>
          <a:prstGeom prst="rect">
            <a:avLst/>
          </a:prstGeom>
          <a:solidFill>
            <a:srgbClr val="28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197864"/>
            <a:ext cx="49377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2323"/>
                </a:solidFill>
                <a:latin typeface="Arial"/>
              </a:rPr>
              <a:t>这能说明什么 / 不能说明什么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32323"/>
                </a:solidFill>
                <a:latin typeface="Microsoft YaHei"/>
              </a:rPr>
              <a:t>能说明：模型在某些第三舱样本上仍会误判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32323"/>
                </a:solidFill>
                <a:latin typeface="Microsoft YaHei"/>
              </a:rPr>
              <a:t>不能说明：性别、舱位或票价“导致”生存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32323"/>
                </a:solidFill>
                <a:latin typeface="Microsoft YaHei"/>
              </a:rPr>
              <a:t>也不能用一个样本代表全部乘客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29000"/>
            <a:ext cx="11064240" cy="2642616"/>
          </a:xfrm>
          <a:prstGeom prst="roundRect">
            <a:avLst/>
          </a:prstGeom>
          <a:solidFill>
            <a:srgbClr val="F5F6F8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3429000"/>
            <a:ext cx="11064240" cy="109728"/>
          </a:xfrm>
          <a:prstGeom prst="rect">
            <a:avLst/>
          </a:prstGeom>
          <a:solidFill>
            <a:srgbClr val="2D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575304"/>
            <a:ext cx="7568097" cy="20133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 err="1">
                <a:solidFill>
                  <a:srgbClr val="232323"/>
                </a:solidFill>
                <a:latin typeface="Arial"/>
              </a:rPr>
              <a:t>下一项检查</a:t>
            </a:r>
            <a:endParaRPr sz="1800" b="1" dirty="0">
              <a:solidFill>
                <a:srgbClr val="232323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r>
              <a:rPr sz="1400" dirty="0" err="1">
                <a:solidFill>
                  <a:srgbClr val="232323"/>
                </a:solidFill>
                <a:latin typeface="Microsoft YaHei"/>
              </a:rPr>
              <a:t>继续打开更多错分样本，看看错误是否集中在某些特征组合上</a:t>
            </a:r>
            <a:endParaRPr lang="en-US" sz="1400"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lang="zh-CN" altLang="en-US" sz="1400" dirty="0">
                <a:solidFill>
                  <a:srgbClr val="23232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检查错分样本缺失值：错误是不是大多发生在</a:t>
            </a:r>
            <a:r>
              <a:rPr lang="en-US" altLang="zh-CN" sz="1400" dirty="0">
                <a:solidFill>
                  <a:srgbClr val="23232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Age</a:t>
            </a:r>
            <a:r>
              <a:rPr lang="zh-CN" altLang="en-US" sz="1400" dirty="0">
                <a:solidFill>
                  <a:srgbClr val="23232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缺失、</a:t>
            </a:r>
            <a:r>
              <a:rPr lang="en-US" altLang="zh-CN" sz="1400" dirty="0">
                <a:solidFill>
                  <a:srgbClr val="23232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Embarked</a:t>
            </a:r>
            <a:r>
              <a:rPr lang="zh-CN" altLang="en-US" sz="1400" dirty="0">
                <a:solidFill>
                  <a:srgbClr val="23232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缺失的样本；</a:t>
            </a:r>
          </a:p>
          <a:p>
            <a:pPr>
              <a:spcAft>
                <a:spcPts val="500"/>
              </a:spcAft>
            </a:pPr>
            <a:r>
              <a:rPr lang="zh-CN" altLang="en-US" sz="1400" dirty="0">
                <a:solidFill>
                  <a:srgbClr val="23232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查看训练数据：</a:t>
            </a:r>
            <a:r>
              <a:rPr lang="en-US" altLang="zh-CN" sz="1400" dirty="0">
                <a:solidFill>
                  <a:srgbClr val="23232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400" dirty="0">
                <a:solidFill>
                  <a:srgbClr val="23232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等舱女性样本在训练集数量是否偏少，模型学习不足；</a:t>
            </a:r>
          </a:p>
          <a:p>
            <a:pPr>
              <a:spcAft>
                <a:spcPts val="500"/>
              </a:spcAft>
            </a:pPr>
            <a:r>
              <a:rPr lang="zh-CN" altLang="en-US" sz="1400" dirty="0">
                <a:solidFill>
                  <a:srgbClr val="23232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后续动作：可以尝试增加特征、调优随机森林超参数，或者检查预处理流程是否存在问题。</a:t>
            </a:r>
          </a:p>
          <a:p>
            <a:pPr>
              <a:spcAft>
                <a:spcPts val="500"/>
              </a:spcAft>
            </a:pPr>
            <a:r>
              <a:rPr lang="zh-CN" altLang="en-US" sz="1600" dirty="0">
                <a:solidFill>
                  <a:srgbClr val="23232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不能只看总体指标，要看模型究竟在哪一类样本上面持续犯错。</a:t>
            </a:r>
            <a:endParaRPr sz="1600" dirty="0">
              <a:solidFill>
                <a:srgbClr val="23232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Aft>
                <a:spcPts val="500"/>
              </a:spcAft>
            </a:pPr>
            <a:r>
              <a:rPr sz="1400" dirty="0" err="1">
                <a:solidFill>
                  <a:srgbClr val="232323"/>
                </a:solidFill>
                <a:latin typeface="Microsoft YaHei"/>
              </a:rPr>
              <a:t>然后把结论写回</a:t>
            </a:r>
            <a:r>
              <a:rPr sz="1400" dirty="0">
                <a:solidFill>
                  <a:srgbClr val="232323"/>
                </a:solidFill>
                <a:latin typeface="Microsoft YaHei"/>
              </a:rPr>
              <a:t> report.md 和 </a:t>
            </a:r>
            <a:r>
              <a:rPr sz="1400" dirty="0" err="1">
                <a:solidFill>
                  <a:srgbClr val="232323"/>
                </a:solidFill>
                <a:latin typeface="Microsoft YaHei"/>
              </a:rPr>
              <a:t>PPT，保证报告、PPT、代码一致</a:t>
            </a:r>
            <a:endParaRPr sz="1400" dirty="0">
              <a:solidFill>
                <a:srgbClr val="232323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Microsoft YaHei"/>
              </a:rPr>
              <a:t>D1 · Titanic 分类实验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32323"/>
                </a:solidFill>
                <a:latin typeface="Arial"/>
              </a:rPr>
              <a:t>5. 智能体建议了什么，学生如何验证？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24128"/>
            <a:ext cx="5532120" cy="4572000"/>
          </a:xfrm>
          <a:prstGeom prst="roundRect">
            <a:avLst/>
          </a:prstGeom>
          <a:solidFill>
            <a:srgbClr val="F5F6F8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5532120" cy="109728"/>
          </a:xfrm>
          <a:prstGeom prst="rect">
            <a:avLst/>
          </a:prstGeom>
          <a:solidFill>
            <a:srgbClr val="284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8689" y="1170432"/>
            <a:ext cx="4587712" cy="256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 err="1">
                <a:solidFill>
                  <a:srgbClr val="232323"/>
                </a:solidFill>
                <a:latin typeface="Arial"/>
              </a:rPr>
              <a:t>智能体建议</a:t>
            </a:r>
            <a:endParaRPr sz="2800" b="1" dirty="0">
              <a:solidFill>
                <a:srgbClr val="232323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r>
              <a:rPr sz="2000" dirty="0" err="1">
                <a:solidFill>
                  <a:srgbClr val="232323"/>
                </a:solidFill>
                <a:latin typeface="Microsoft YaHei"/>
              </a:rPr>
              <a:t>建议在现有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 preprocessor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后加入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RandomForestClassifier</a:t>
            </a:r>
            <a:endParaRPr sz="2000"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2000" dirty="0" err="1">
                <a:solidFill>
                  <a:srgbClr val="232323"/>
                </a:solidFill>
                <a:latin typeface="Microsoft YaHei"/>
              </a:rPr>
              <a:t>保持固定随机种子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random_state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=42，n_estimators=200</a:t>
            </a:r>
          </a:p>
          <a:p>
            <a:pPr>
              <a:spcAft>
                <a:spcPts val="500"/>
              </a:spcAft>
            </a:pPr>
            <a:r>
              <a:rPr sz="2000" dirty="0" err="1">
                <a:solidFill>
                  <a:srgbClr val="232323"/>
                </a:solidFill>
                <a:latin typeface="Microsoft YaHei"/>
              </a:rPr>
              <a:t>保留多数类基线作为对照</a:t>
            </a:r>
            <a:endParaRPr sz="2000"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2000" dirty="0" err="1">
                <a:solidFill>
                  <a:srgbClr val="232323"/>
                </a:solidFill>
                <a:latin typeface="Microsoft YaHei"/>
              </a:rPr>
              <a:t>这只是待检验假设，不是直接结论</a:t>
            </a:r>
            <a:endParaRPr sz="2000" dirty="0">
              <a:solidFill>
                <a:srgbClr val="232323"/>
              </a:solidFill>
              <a:latin typeface="Microsoft Ya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0" y="1024128"/>
            <a:ext cx="5212080" cy="4572000"/>
          </a:xfrm>
          <a:prstGeom prst="roundRect">
            <a:avLst/>
          </a:prstGeom>
          <a:solidFill>
            <a:srgbClr val="F5F6F8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1024128"/>
            <a:ext cx="5212080" cy="109728"/>
          </a:xfrm>
          <a:prstGeom prst="rect">
            <a:avLst/>
          </a:prstGeom>
          <a:solidFill>
            <a:srgbClr val="2D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30738" y="1202523"/>
            <a:ext cx="4562573" cy="4473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 err="1">
                <a:solidFill>
                  <a:srgbClr val="232323"/>
                </a:solidFill>
                <a:latin typeface="Arial"/>
              </a:rPr>
              <a:t>学生如何验证</a:t>
            </a:r>
            <a:endParaRPr sz="2800" b="1" dirty="0">
              <a:solidFill>
                <a:srgbClr val="232323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r>
              <a:rPr sz="2000" dirty="0">
                <a:solidFill>
                  <a:srgbClr val="232323"/>
                </a:solidFill>
                <a:latin typeface="Microsoft YaHei"/>
              </a:rPr>
              <a:t>1)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打开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train.py，确认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build_candidate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()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真的用了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RandomForestClassifier</a:t>
            </a:r>
            <a:endParaRPr sz="2000"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2000" dirty="0">
                <a:solidFill>
                  <a:srgbClr val="232323"/>
                </a:solidFill>
                <a:latin typeface="Microsoft YaHei"/>
              </a:rPr>
              <a:t>2)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运行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 python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train.py，确认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metrics.json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 和 errors.csv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生成</a:t>
            </a:r>
            <a:endParaRPr sz="2000"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2000" dirty="0">
                <a:solidFill>
                  <a:srgbClr val="232323"/>
                </a:solidFill>
                <a:latin typeface="Microsoft YaHei"/>
              </a:rPr>
              <a:t>3)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打开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metrics.json，比对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 baseline 和 candidate 的 accuracy / recall / F1</a:t>
            </a:r>
          </a:p>
          <a:p>
            <a:pPr>
              <a:spcAft>
                <a:spcPts val="500"/>
              </a:spcAft>
            </a:pPr>
            <a:r>
              <a:rPr sz="2000" dirty="0">
                <a:solidFill>
                  <a:srgbClr val="232323"/>
                </a:solidFill>
                <a:latin typeface="Microsoft YaHei"/>
              </a:rPr>
              <a:t>4)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打开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errors.csv，确认确实存在真实错分样本</a:t>
            </a:r>
            <a:endParaRPr sz="2000" dirty="0">
              <a:solidFill>
                <a:srgbClr val="232323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2000" dirty="0">
                <a:solidFill>
                  <a:srgbClr val="232323"/>
                </a:solidFill>
                <a:latin typeface="Microsoft YaHei"/>
              </a:rPr>
              <a:t>5)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如果把模型改回</a:t>
            </a:r>
            <a:r>
              <a:rPr sz="2000" dirty="0">
                <a:solidFill>
                  <a:srgbClr val="232323"/>
                </a:solidFill>
                <a:latin typeface="Microsoft YaHei"/>
              </a:rPr>
              <a:t> </a:t>
            </a:r>
            <a:r>
              <a:rPr sz="2000" dirty="0" err="1">
                <a:solidFill>
                  <a:srgbClr val="232323"/>
                </a:solidFill>
                <a:latin typeface="Microsoft YaHei"/>
              </a:rPr>
              <a:t>Dummy，候选指标会下降，用来反向证明输出来自代码</a:t>
            </a:r>
            <a:endParaRPr sz="2000" dirty="0">
              <a:solidFill>
                <a:srgbClr val="232323"/>
              </a:solidFill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Microsoft YaHei"/>
              </a:rPr>
              <a:t>D1 · Titanic 分类实验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735</Words>
  <Application>Microsoft Office PowerPoint</Application>
  <PresentationFormat>宽屏</PresentationFormat>
  <Paragraphs>97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黑体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15629378686@163.com</cp:lastModifiedBy>
  <cp:revision>3</cp:revision>
  <dcterms:created xsi:type="dcterms:W3CDTF">2013-01-27T09:14:16Z</dcterms:created>
  <dcterms:modified xsi:type="dcterms:W3CDTF">2026-08-18T02:46:17Z</dcterms:modified>
  <cp:category/>
</cp:coreProperties>
</file>